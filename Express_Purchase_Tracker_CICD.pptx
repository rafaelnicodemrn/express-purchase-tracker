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Bom dia/boa tarde. Vou apresentar a evolução do Express Purchase Tracker, focando no que adicionamos: CI/CD completo com deploy automático.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 apresentação anterior vimos o sistema funcionando localmente. O problema é que qualquer mudança exigia processo manual e podia quebrar tudo.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CI/CD resolve isso. CI valida o código automaticamente. CD publica em produção se tudo passar. Juntos eliminam o deploy manual.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Nosso pipeline tem 5 etapas encadeadas. Se qualquer uma falha, o deploy não acontece. O código ruim nunca chega ao 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Esses são os números reais do projeto. 27 testes, 99% de cobertura, 16 runs executados, zero deploys manuais.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Usamos GitHub Actions para orquestrar, Render para hospedar, pytest e ruff para qualidade, e o CLAUDE.md como contrato de escopo para o Claude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 vou mostrar ao vivo. Vou mudar o plano de fundo da interface, commitar, e vocês vão ver o pipeline rodar e a mudança ir para produção automaticamente.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Antes: processo manual, risco constante. Depois: push, pipeline, produção. Com histórico completo de cada validação.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projeto saiu de rodar só na minha máquina para estar disponível na internet com validação automática a cada commit. Disponível agora em produção.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1127729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mbria"/>
              </a:rPr>
              <a:t>Express Purchase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9659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Adicionando CI/CD ao projeto</a:t>
            </a:r>
          </a:p>
        </p:txBody>
      </p:sp>
      <p:sp>
        <p:nvSpPr>
          <p:cNvPr id="4" name="Oval 3"/>
          <p:cNvSpPr/>
          <p:nvPr/>
        </p:nvSpPr>
        <p:spPr>
          <a:xfrm>
            <a:off x="2209647" y="3017520"/>
            <a:ext cx="1463040" cy="14630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09647" y="3182112"/>
            <a:ext cx="14630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0" i="0">
                <a:solidFill>
                  <a:srgbClr val="065A82"/>
                </a:solidFill>
                <a:latin typeface="Calibri"/>
              </a:rPr>
              <a:t>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26767" y="461772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Svelte 5</a:t>
            </a:r>
          </a:p>
        </p:txBody>
      </p:sp>
      <p:sp>
        <p:nvSpPr>
          <p:cNvPr id="7" name="Oval 6"/>
          <p:cNvSpPr/>
          <p:nvPr/>
        </p:nvSpPr>
        <p:spPr>
          <a:xfrm>
            <a:off x="4312767" y="3017520"/>
            <a:ext cx="1463040" cy="14630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12767" y="3182112"/>
            <a:ext cx="14630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0" i="0">
                <a:solidFill>
                  <a:srgbClr val="065A82"/>
                </a:solidFill>
                <a:latin typeface="Calibri"/>
              </a:rPr>
              <a:t>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29887" y="461772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FastAPI</a:t>
            </a:r>
          </a:p>
        </p:txBody>
      </p:sp>
      <p:sp>
        <p:nvSpPr>
          <p:cNvPr id="10" name="Oval 9"/>
          <p:cNvSpPr/>
          <p:nvPr/>
        </p:nvSpPr>
        <p:spPr>
          <a:xfrm>
            <a:off x="6415887" y="3017520"/>
            <a:ext cx="1463040" cy="14630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5887" y="3182112"/>
            <a:ext cx="14630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0" i="0">
                <a:solidFill>
                  <a:srgbClr val="065A82"/>
                </a:solidFill>
                <a:latin typeface="Calibri"/>
              </a:rPr>
              <a:t>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007" y="461772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GitHub Actions</a:t>
            </a:r>
          </a:p>
        </p:txBody>
      </p:sp>
      <p:sp>
        <p:nvSpPr>
          <p:cNvPr id="13" name="Oval 12"/>
          <p:cNvSpPr/>
          <p:nvPr/>
        </p:nvSpPr>
        <p:spPr>
          <a:xfrm>
            <a:off x="8519007" y="3017520"/>
            <a:ext cx="1463040" cy="14630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19007" y="3182112"/>
            <a:ext cx="14630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0" i="0">
                <a:solidFill>
                  <a:srgbClr val="065A82"/>
                </a:solidFill>
                <a:latin typeface="Calibri"/>
              </a:rPr>
              <a:t>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127" y="461772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Render.com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035040"/>
            <a:ext cx="112772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Svelte 5  +  FastAPI  +  GitHub Actions  +  Render.com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065A82"/>
                </a:solidFill>
                <a:latin typeface="Cambria"/>
              </a:rPr>
              <a:t>O projeto antes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i="0">
                <a:solidFill>
                  <a:srgbClr val="1F2D3A"/>
                </a:solidFill>
                <a:latin typeface="Calibri"/>
              </a:rPr>
              <a:t>❌  Deploy manual via terminal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9748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i="0">
                <a:solidFill>
                  <a:srgbClr val="1F2D3A"/>
                </a:solidFill>
                <a:latin typeface="Calibri"/>
              </a:rPr>
              <a:t>❌  Sem testes automatizados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i="0">
                <a:solidFill>
                  <a:srgbClr val="1F2D3A"/>
                </a:solidFill>
                <a:latin typeface="Calibri"/>
              </a:rPr>
              <a:t>❌  "Funciona na minha máquina"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i="0">
                <a:solidFill>
                  <a:srgbClr val="1F2D3A"/>
                </a:solidFill>
                <a:latin typeface="Calibri"/>
              </a:rPr>
              <a:t>❌  Risco a cada alteração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737360"/>
            <a:ext cx="5212080" cy="3840480"/>
          </a:xfrm>
          <a:prstGeom prst="round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2011680"/>
            <a:ext cx="4572000" cy="3291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1" i="0">
                <a:solidFill>
                  <a:srgbClr val="FFFFFF"/>
                </a:solidFill>
                <a:latin typeface="Cambria"/>
              </a:rPr>
              <a:t>Qualquer commit</a:t>
            </a:r>
          </a:p>
          <a:p>
            <a:pPr algn="ctr">
              <a:lnSpc>
                <a:spcPct val="125000"/>
              </a:lnSpc>
            </a:pPr>
            <a:r>
              <a:rPr sz="2800" b="1" i="0">
                <a:solidFill>
                  <a:srgbClr val="FFFFFF"/>
                </a:solidFill>
                <a:latin typeface="Cambria"/>
              </a:rPr>
              <a:t>poderia derrubar</a:t>
            </a:r>
          </a:p>
          <a:p>
            <a:pPr algn="ctr">
              <a:lnSpc>
                <a:spcPct val="125000"/>
              </a:lnSpc>
            </a:pPr>
            <a:r>
              <a:rPr sz="2800" b="1" i="0">
                <a:solidFill>
                  <a:srgbClr val="FFFFFF"/>
                </a:solidFill>
                <a:latin typeface="Cambria"/>
              </a:rPr>
              <a:t>o sistema em produção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1C7293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7729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mbria"/>
              </a:rPr>
              <a:t>O que é CI/CD?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00887" y="1920240"/>
            <a:ext cx="5120640" cy="329184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0927" y="2240280"/>
            <a:ext cx="4480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CI — Integração Contínua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0927" y="3154680"/>
            <a:ext cx="44805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FFFFFF"/>
                </a:solidFill>
                <a:latin typeface="Calibri"/>
              </a:rPr>
              <a:t>Valida automaticamente cada</a:t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FFFFFF"/>
                </a:solidFill>
                <a:latin typeface="Calibri"/>
              </a:rPr>
              <a:t>commit: lint, testes e build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70167" y="1920240"/>
            <a:ext cx="5120640" cy="329184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90207" y="2240280"/>
            <a:ext cx="4480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CD — Entrega Contínua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90207" y="3154680"/>
            <a:ext cx="44805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FFFFFF"/>
                </a:solidFill>
                <a:latin typeface="Calibri"/>
              </a:rPr>
              <a:t>Publica em produção</a:t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FFFFFF"/>
                </a:solidFill>
                <a:latin typeface="Calibri"/>
              </a:rPr>
              <a:t>automaticamente se tudo passar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06440"/>
            <a:ext cx="112772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1">
                <a:solidFill>
                  <a:srgbClr val="FFFFFF"/>
                </a:solidFill>
                <a:latin typeface="Cambria"/>
              </a:rPr>
              <a:t>Código ruim nunca chega ao 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065A82"/>
                </a:solidFill>
                <a:latin typeface="Cambria"/>
              </a:rPr>
              <a:t>Como funciona o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2194560"/>
            <a:ext cx="1828800" cy="105156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904" y="2194560"/>
            <a:ext cx="1828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🔍 Lint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2744" y="3429000"/>
            <a:ext cx="21031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1F2D3A"/>
                </a:solidFill>
                <a:latin typeface="Calibri"/>
              </a:rPr>
              <a:t>Ruff — qualidade do</a:t>
            </a:r>
          </a:p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1F2D3A"/>
                </a:solidFill>
                <a:latin typeface="Calibri"/>
              </a:rPr>
              <a:t>código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38704" y="2194560"/>
            <a:ext cx="4572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065A82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95904" y="2194560"/>
            <a:ext cx="1828800" cy="1051560"/>
          </a:xfrm>
          <a:prstGeom prst="round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95904" y="2194560"/>
            <a:ext cx="1828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🧪 Testes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58744" y="3429000"/>
            <a:ext cx="21031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1F2D3A"/>
                </a:solidFill>
                <a:latin typeface="Calibri"/>
              </a:rPr>
              <a:t>pytest — 27 testes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4704" y="2194560"/>
            <a:ext cx="4572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065A82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81904" y="2194560"/>
            <a:ext cx="1828800" cy="105156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81904" y="2194560"/>
            <a:ext cx="1828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🏗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4744" y="3429000"/>
            <a:ext cx="21031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1F2D3A"/>
                </a:solidFill>
                <a:latin typeface="Calibri"/>
              </a:rPr>
              <a:t>Vite — frontend Svelte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0704" y="2194560"/>
            <a:ext cx="4572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065A82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67904" y="2194560"/>
            <a:ext cx="1828800" cy="1051560"/>
          </a:xfrm>
          <a:prstGeom prst="round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67904" y="2194560"/>
            <a:ext cx="1828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🔗 Integração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0744" y="3429000"/>
            <a:ext cx="21031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1F2D3A"/>
                </a:solidFill>
                <a:latin typeface="Calibri"/>
              </a:rPr>
              <a:t>FastAPI + frontend</a:t>
            </a:r>
          </a:p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1F2D3A"/>
                </a:solidFill>
                <a:latin typeface="Calibri"/>
              </a:rPr>
              <a:t>juntos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6704" y="2194560"/>
            <a:ext cx="4572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065A82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53904" y="2194560"/>
            <a:ext cx="1828800" cy="105156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53904" y="2194560"/>
            <a:ext cx="1828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🚀 Deploy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16744" y="3429000"/>
            <a:ext cx="21031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1F2D3A"/>
                </a:solidFill>
                <a:latin typeface="Calibri"/>
              </a:rPr>
              <a:t>Render.com automático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1C7293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mbria"/>
              </a:rPr>
              <a:t>Resultados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00200"/>
            <a:ext cx="5135727" cy="224028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135727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mbria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513572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testes automatizados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24447" y="1600200"/>
            <a:ext cx="5135727" cy="224028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24447" y="1828800"/>
            <a:ext cx="5135727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mbria"/>
              </a:rPr>
              <a:t>99%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3017520"/>
            <a:ext cx="513572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cobertura de código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97680"/>
            <a:ext cx="5135727" cy="224028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526280"/>
            <a:ext cx="5135727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mbria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15000"/>
            <a:ext cx="513572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runs de pipeline executados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4447" y="4297680"/>
            <a:ext cx="5135727" cy="224028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4447" y="4526280"/>
            <a:ext cx="5135727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mbria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447" y="5715000"/>
            <a:ext cx="513572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deploys manuais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065A82"/>
                </a:solidFill>
                <a:latin typeface="Cambria"/>
              </a:rPr>
              <a:t>Stack utilizada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135727" cy="2240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97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0" i="0">
                <a:solidFill>
                  <a:srgbClr val="065A82"/>
                </a:solidFill>
                <a:latin typeface="Calibri"/>
              </a:rPr>
              <a:t>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920240"/>
            <a:ext cx="3581247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065A82"/>
                </a:solidFill>
                <a:latin typeface="Cambria"/>
              </a:rPr>
              <a:t>GitHub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514600"/>
            <a:ext cx="3581247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1F2D3A"/>
                </a:solidFill>
                <a:latin typeface="Calibri"/>
              </a:rPr>
              <a:t>Orquestração do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600200"/>
            <a:ext cx="5135727" cy="2240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1828800"/>
            <a:ext cx="1097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0" i="0">
                <a:solidFill>
                  <a:srgbClr val="065A82"/>
                </a:solidFill>
                <a:latin typeface="Calibri"/>
              </a:rPr>
              <a:t>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6047" y="1920240"/>
            <a:ext cx="3581247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065A82"/>
                </a:solidFill>
                <a:latin typeface="Cambria"/>
              </a:rPr>
              <a:t>Render.com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6047" y="2514600"/>
            <a:ext cx="3581247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1F2D3A"/>
                </a:solidFill>
                <a:latin typeface="Calibri"/>
              </a:rPr>
              <a:t>Hospedagem e deploy automático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97680"/>
            <a:ext cx="5135727" cy="2240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526280"/>
            <a:ext cx="1097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0" i="0">
                <a:solidFill>
                  <a:srgbClr val="065A82"/>
                </a:solidFill>
                <a:latin typeface="Calibri"/>
              </a:rPr>
              <a:t>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4617720"/>
            <a:ext cx="3581247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065A82"/>
                </a:solidFill>
                <a:latin typeface="Cambria"/>
              </a:rPr>
              <a:t>pytest + ruff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5212080"/>
            <a:ext cx="3581247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1F2D3A"/>
                </a:solidFill>
                <a:latin typeface="Calibri"/>
              </a:rPr>
              <a:t>Testes e qualidade de código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24447" y="4297680"/>
            <a:ext cx="5135727" cy="2240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98767" y="4526280"/>
            <a:ext cx="1097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0" i="0">
                <a:solidFill>
                  <a:srgbClr val="065A82"/>
                </a:solidFill>
                <a:latin typeface="Calibri"/>
              </a:rPr>
              <a:t>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6047" y="4617720"/>
            <a:ext cx="3581247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065A82"/>
                </a:solidFill>
                <a:latin typeface="Cambria"/>
              </a:rPr>
              <a:t>CLAUDE.md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6047" y="5212080"/>
            <a:ext cx="3581247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1F2D3A"/>
                </a:solidFill>
                <a:latin typeface="Calibri"/>
              </a:rPr>
              <a:t>Contrato de escopo para 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1C7293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mbria"/>
              </a:rPr>
              <a:t>Demo ao vivo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2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O que vamos fazer agora:</a:t>
            </a:r>
          </a:p>
        </p:txBody>
      </p:sp>
      <p:sp>
        <p:nvSpPr>
          <p:cNvPr id="4" name="Oval 3"/>
          <p:cNvSpPr/>
          <p:nvPr/>
        </p:nvSpPr>
        <p:spPr>
          <a:xfrm>
            <a:off x="1828800" y="228600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28600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065A82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2286000"/>
            <a:ext cx="8686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Alterar o plano de fundo da interface</a:t>
            </a:r>
          </a:p>
        </p:txBody>
      </p:sp>
      <p:sp>
        <p:nvSpPr>
          <p:cNvPr id="7" name="Oval 6"/>
          <p:cNvSpPr/>
          <p:nvPr/>
        </p:nvSpPr>
        <p:spPr>
          <a:xfrm>
            <a:off x="1828800" y="306324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306324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065A82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3063240"/>
            <a:ext cx="8686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Commitar e fazer push</a:t>
            </a:r>
          </a:p>
        </p:txBody>
      </p:sp>
      <p:sp>
        <p:nvSpPr>
          <p:cNvPr id="10" name="Oval 9"/>
          <p:cNvSpPr/>
          <p:nvPr/>
        </p:nvSpPr>
        <p:spPr>
          <a:xfrm>
            <a:off x="1828800" y="384048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38404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065A82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3840480"/>
            <a:ext cx="8686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Acompanhar o pipeline no GitHub Actions</a:t>
            </a:r>
          </a:p>
        </p:txBody>
      </p:sp>
      <p:sp>
        <p:nvSpPr>
          <p:cNvPr id="13" name="Oval 12"/>
          <p:cNvSpPr/>
          <p:nvPr/>
        </p:nvSpPr>
        <p:spPr>
          <a:xfrm>
            <a:off x="1828800" y="461772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46177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065A82"/>
                </a:solidFill>
                <a:latin typeface="Cambr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4617720"/>
            <a:ext cx="8686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Ver a mudança publicada automaticamente em produção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38704" y="5669280"/>
            <a:ext cx="7315200" cy="77724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38704" y="5669280"/>
            <a:ext cx="7315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Do commit ao ar em menos de 2 minutos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065A82"/>
                </a:solidFill>
                <a:latin typeface="Cambria"/>
              </a:rPr>
              <a:t>O que mudou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447" y="1691640"/>
            <a:ext cx="5212080" cy="4297680"/>
          </a:xfrm>
          <a:prstGeom prst="roundRect">
            <a:avLst/>
          </a:prstGeom>
          <a:solidFill>
            <a:srgbClr val="FB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5207" y="1965960"/>
            <a:ext cx="4480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B32B2B"/>
                </a:solidFill>
                <a:latin typeface="Cambria"/>
              </a:rPr>
              <a:t>ANTES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207" y="2880360"/>
            <a:ext cx="4480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1F2D3A"/>
                </a:solidFill>
                <a:latin typeface="Calibri"/>
              </a:rPr>
              <a:t>•  Deploy = processo manual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5207" y="3840480"/>
            <a:ext cx="4480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1F2D3A"/>
                </a:solidFill>
                <a:latin typeface="Calibri"/>
              </a:rPr>
              <a:t>•  Bugs descobertos em produção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207" y="4800600"/>
            <a:ext cx="4480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1F2D3A"/>
                </a:solidFill>
                <a:latin typeface="Calibri"/>
              </a:rPr>
              <a:t>•  Sem histórico de validações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0167" y="1691640"/>
            <a:ext cx="5212080" cy="4297680"/>
          </a:xfrm>
          <a:prstGeom prst="roundRect">
            <a:avLst/>
          </a:prstGeom>
          <a:solidFill>
            <a:srgbClr val="D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35927" y="1965960"/>
            <a:ext cx="4480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F7A4D"/>
                </a:solidFill>
                <a:latin typeface="Cambria"/>
              </a:rPr>
              <a:t>DEPOIS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5927" y="2880360"/>
            <a:ext cx="4480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1F2D3A"/>
                </a:solidFill>
                <a:latin typeface="Calibri"/>
              </a:rPr>
              <a:t>•  Push → pipeline → produção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5927" y="3840480"/>
            <a:ext cx="4480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1F2D3A"/>
                </a:solidFill>
                <a:latin typeface="Calibri"/>
              </a:rPr>
              <a:t>•  Bugs bloqueados antes do 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5927" y="4800600"/>
            <a:ext cx="4480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1F2D3A"/>
                </a:solidFill>
                <a:latin typeface="Calibri"/>
              </a:rPr>
              <a:t>•  16 runs documentados no GitHub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1C7293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1127729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mbria"/>
              </a:rPr>
              <a:t>De local para produção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 i="0">
                <a:solidFill>
                  <a:srgbClr val="FFFFFF"/>
                </a:solidFill>
                <a:latin typeface="Calibri"/>
              </a:rPr>
              <a:t>Qualquer alteração agora passa por lint, 27 testes e build automático</a:t>
            </a:r>
          </a:p>
          <a:p>
            <a:pPr algn="ctr">
              <a:lnSpc>
                <a:spcPct val="125000"/>
              </a:lnSpc>
            </a:pPr>
            <a:r>
              <a:rPr sz="2800" b="0" i="0">
                <a:solidFill>
                  <a:srgbClr val="FFFFFF"/>
                </a:solidFill>
                <a:latin typeface="Calibri"/>
              </a:rPr>
              <a:t>antes de chegar ao ar — sem intervenção manual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53104" y="4206240"/>
            <a:ext cx="548640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353104" y="420624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065A82"/>
                </a:solidFill>
                <a:latin typeface="Cambria"/>
              </a:rPr>
              <a:t>express-purchase-tracker.onrender.com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126480"/>
            <a:ext cx="112772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github.com/rafaelnicodemrn/Express-purchase-tracker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